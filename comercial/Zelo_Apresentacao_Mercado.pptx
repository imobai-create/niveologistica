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754880" cy="4754880"/>
          </a:xfrm>
          <a:prstGeom prst="ellipse">
            <a:avLst/>
          </a:prstGeom>
          <a:solidFill>
            <a:srgbClr val="1E5F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651760"/>
            <a:ext cx="3108960" cy="3108960"/>
          </a:xfrm>
          <a:prstGeom prst="ellipse">
            <a:avLst/>
          </a:prstGeom>
          <a:solidFill>
            <a:srgbClr val="35E0A1">
              <a:alpha val="2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420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Última milha de precisão para carga sensível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dedicada premium  </a:t>
            </a:r>
            <a:pPr indent="0" marL="0">
              <a:buNone/>
            </a:pPr>
            <a:r>
              <a:rPr lang="en-US" sz="14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Frota 100% elétrica  ·  Belo Horizonte / MG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Mercado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última milha é o elo onde o risco fica órfão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6420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carga sensível e regulada, o embarcador entrega — e perde o controle. O risco regulatório, de avaria e de reputação recai sobre ele justamente no trecho final.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57800" y="1325880"/>
            <a:ext cx="338328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58968" y="1572768"/>
            <a:ext cx="457200" cy="45720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165506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760" y="14721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fria sem prova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8076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auditável de temperatura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350008"/>
            <a:ext cx="338328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58968" y="2596896"/>
            <a:ext cx="457200" cy="45720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26791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80760" y="24963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visibilidade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080760" y="2807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invisível em trânsito para o cliente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257800" y="3374136"/>
            <a:ext cx="338328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58968" y="3621024"/>
            <a:ext cx="457200" cy="457200"/>
          </a:xfrm>
          <a:prstGeom prst="ellipse">
            <a:avLst/>
          </a:prstGeom>
          <a:solidFill>
            <a:srgbClr val="FFF0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37033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35204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de até R$ 1,5 mi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080760" y="38313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conformidade pune o distribuidor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 no Brasil: mais de R$ 240 bi/ano — exigindo rastreabilidade e controle térmico no transporte.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forças convergindo em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apertando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12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ANVISA (RDC 430/304) reforça exigências de temperatura, rastreabilidade e responsabilidade compartilhada na cadeia.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46304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783080"/>
            <a:ext cx="658368" cy="658368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94767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26060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 de prazo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0168" y="3108960"/>
            <a:ext cx="212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Now (entrega em 15 min) já opera em BH e redefine o que o mercado considera aceitável.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08776" y="1463040"/>
            <a:ext cx="2670048" cy="29260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1783080"/>
            <a:ext cx="658368" cy="658368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9476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3096" y="26060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por ESG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83096" y="3108960"/>
            <a:ext cx="212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querem entrega de baixo carbono comprovável para repassar aos próprios clientes.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CEGO DO 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distribuidor médio está entre dois extremos ruins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77640" cy="2743200"/>
          </a:xfrm>
          <a:prstGeom prst="roundRect">
            <a:avLst>
              <a:gd name="adj" fmla="val 3000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agregado commodity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baixo, zero responsabilidade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SLA, sem rastreio confiável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rotativo, sem cuidado com a carga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3977640" cy="2743200"/>
          </a:xfrm>
          <a:prstGeom prst="roundRect">
            <a:avLst>
              <a:gd name="adj" fmla="val 3000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709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transportadora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pequena = baixa prioridade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rígido e impessoal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dedicação nem flexibilidade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alto de estrutura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oferece uma operação pequena, dedicada e auditável para quem tem carga que importa.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micro-frota dedicada, premium e elétrica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Zelo é o time de entrega interno que o distribuidor não consegue montar — entregue como serviço. Poucos veículos, contas selecionadas num mesmo cluster, padrão de cuidado e conformidade que o mercado não oferece.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3977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734056"/>
            <a:ext cx="457200" cy="45720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8163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6060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dedicada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e equipe exclusivos das suas contas — não um app rotativo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663440" y="2423160"/>
            <a:ext cx="3977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2734056"/>
            <a:ext cx="457200" cy="45720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81635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6060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elétrica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3212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baixo + ESG comprovável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02920" y="3630168"/>
            <a:ext cx="3977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941064"/>
            <a:ext cx="457200" cy="45720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0233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8130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 multa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garantida, com penalidade nossa se falharmos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4663440" y="3630168"/>
            <a:ext cx="3977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941064"/>
            <a:ext cx="457200" cy="45720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40233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8130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geográfico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3212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densas em região definida = eficiência e foco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Rastro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custódia auditável de ponta a ponta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vira um dossiê verificável. Transformamos transporte em redução de risco — e em ativo de marketing que o cliente repassa aos clientes dele.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975104" cy="2331720"/>
          </a:xfrm>
          <a:prstGeom prst="roundRect">
            <a:avLst>
              <a:gd name="adj" fmla="val 4167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560320"/>
            <a:ext cx="566928" cy="566928"/>
          </a:xfrm>
          <a:prstGeom prst="ellipse">
            <a:avLst/>
          </a:prstGeom>
          <a:solidFill>
            <a:srgbClr val="0C3A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32461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+ POD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4088" y="37490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A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geolocalização, hora e assinatura em tempo real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42616" y="2286000"/>
            <a:ext cx="1975104" cy="2331720"/>
          </a:xfrm>
          <a:prstGeom prst="roundRect">
            <a:avLst>
              <a:gd name="adj" fmla="val 4167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98648" y="2560320"/>
            <a:ext cx="566928" cy="566928"/>
          </a:xfrm>
          <a:prstGeom prst="ellipse">
            <a:avLst/>
          </a:prstGeom>
          <a:solidFill>
            <a:srgbClr val="0C3A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3784" y="32461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temperatura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43784" y="37490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A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loggers em embalagem térmica qualificada — sem furgão refrigerado caro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82312" y="2286000"/>
            <a:ext cx="1975104" cy="2331720"/>
          </a:xfrm>
          <a:prstGeom prst="roundRect">
            <a:avLst>
              <a:gd name="adj" fmla="val 4167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38344" y="2560320"/>
            <a:ext cx="566928" cy="566928"/>
          </a:xfrm>
          <a:prstGeom prst="ellipse">
            <a:avLst/>
          </a:prstGeom>
          <a:solidFill>
            <a:srgbClr val="0C3A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26974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32461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de conformidade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83480" y="37490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A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pronto para auditoria ANVISA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22008" y="2286000"/>
            <a:ext cx="1975104" cy="2331720"/>
          </a:xfrm>
          <a:prstGeom prst="roundRect">
            <a:avLst>
              <a:gd name="adj" fmla="val 4167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78040" y="2560320"/>
            <a:ext cx="566928" cy="566928"/>
          </a:xfrm>
          <a:prstGeom prst="ellipse">
            <a:avLst/>
          </a:prstGeom>
          <a:solidFill>
            <a:srgbClr val="0C3A3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974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23176" y="32461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ESG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123176" y="37490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AF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Carbono evitado por entrega, comprovado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balcão do cliente ao dossiê — quatro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7510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2075688"/>
            <a:ext cx="548640" cy="54864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2128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Coleta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do cliente, em janela agendada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265176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42616" y="1783080"/>
            <a:ext cx="197510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55848" y="2075688"/>
            <a:ext cx="548640" cy="54864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2128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79776" y="27432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Custódia monitorada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779776" y="32461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 posição registradas em rota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51760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82312" y="1783080"/>
            <a:ext cx="197510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495544" y="2075688"/>
            <a:ext cx="548640" cy="54864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221284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19472" y="27432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Entrega + POD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919472" y="32461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digital no destinatário, em tempo real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2651760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22008" y="1783080"/>
            <a:ext cx="197510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635240" y="2075688"/>
            <a:ext cx="548640" cy="548640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212848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59168" y="27432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Dossiê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059168" y="32461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conformidade e ESG ao cliente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MERCADO-ALVO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Nichos de margem alta na Região Metropolitana de BH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28800"/>
            <a:ext cx="512064" cy="512064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293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0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 &amp; saúde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1396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fria, alto valor, exigência regulatória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77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828800"/>
            <a:ext cx="512064" cy="512064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9293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700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Cosméticos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77840" y="21396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semanal a salões e varejo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834640"/>
            <a:ext cx="3977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200400"/>
            <a:ext cx="512064" cy="512064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3009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723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Autopeças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5112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denso em Contagem — same-day a oficinas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3977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200400"/>
            <a:ext cx="512064" cy="512064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33009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723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Eletrônicos / e-commerce premium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77840" y="35112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frágil e de alto valor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4279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inicial: 1–2 contas-âncora em farma, expandindo no mesmo cluster geográfico.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é difícil de copiar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810512"/>
            <a:ext cx="493776" cy="493776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019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682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como produto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80744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vendemos frete; vendemos risco reduzido e auditável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77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1184" y="1810512"/>
            <a:ext cx="493776" cy="493776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901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1264" y="1682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enxuta e treinada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41264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profissionais dedicados — qualidade que app não entrega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2788920"/>
            <a:ext cx="3977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136392"/>
            <a:ext cx="493776" cy="493776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2278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0744" y="30083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proprietários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80744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SLA e custódia que fideliza e precifica melhor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663440" y="2788920"/>
            <a:ext cx="3977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01184" y="3136392"/>
            <a:ext cx="493776" cy="493776"/>
          </a:xfrm>
          <a:prstGeom prst="ellipse">
            <a:avLst/>
          </a:prstGeom>
          <a:solidFill>
            <a:srgbClr val="E7F6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2278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41264" y="30083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verificável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41264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elétrica + relatório de carbono evitado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Configuração-alvo: 3 furgões no nicho premium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E0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+R$ 188 mil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(TMA 18%)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42616" y="160020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19659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E0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23,3%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734056" y="26517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ao ano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82312" y="160020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9659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E0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873752" y="26517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EBITDA (ano 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22008" y="1600200"/>
            <a:ext cx="1975104" cy="1691640"/>
          </a:xfrm>
          <a:prstGeom prst="roundRect">
            <a:avLst>
              <a:gd name="adj" fmla="val 4865"/>
            </a:avLst>
          </a:prstGeom>
          <a:solidFill>
            <a:srgbClr val="13352F"/>
          </a:solidFill>
          <a:ln w="12700">
            <a:solidFill>
              <a:srgbClr val="1E5F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9659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E0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anos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013448" y="26517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descontado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inicial ~R$ 1,13 mi  ·  OPEX ~R$ 421 mil/ano  ·  3 furgões é o limiar mínimo de escala: com 2, o VPL é negativo.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Inviável como commodity (preço de agregado); viável no preço premium. O posicionamento — não o veículo — define a conta.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Crescer com capital exposto baixo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975104" cy="2240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1975104" cy="457200"/>
          </a:xfrm>
          <a:prstGeom prst="rect">
            <a:avLst/>
          </a:prstGeom>
          <a:solidFill>
            <a:srgbClr val="1E5F4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112264"/>
            <a:ext cx="1975104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465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&amp; venda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86207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empresa, RNTRC, material comercial — sem comprar frota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642616" y="1691640"/>
            <a:ext cx="1975104" cy="2240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42616" y="1691640"/>
            <a:ext cx="1975104" cy="457200"/>
          </a:xfrm>
          <a:prstGeom prst="rect">
            <a:avLst/>
          </a:prstGeom>
          <a:solidFill>
            <a:srgbClr val="1E5F4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42616" y="2112264"/>
            <a:ext cx="1975104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17465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79776" y="23500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07208" y="286207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contas-âncora, operação asset-light (leasing/subcontratação)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782312" y="1691640"/>
            <a:ext cx="1975104" cy="2240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691640"/>
            <a:ext cx="1975104" cy="457200"/>
          </a:xfrm>
          <a:prstGeom prst="rect">
            <a:avLst/>
          </a:prstGeom>
          <a:solidFill>
            <a:srgbClr val="1E5F4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82312" y="2112264"/>
            <a:ext cx="1975104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7465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9472" y="23500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furgões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46904" y="286207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própria elétrica com contrato lastreando o investimento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922008" y="1691640"/>
            <a:ext cx="1975104" cy="2240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22008" y="1691640"/>
            <a:ext cx="1975104" cy="457200"/>
          </a:xfrm>
          <a:prstGeom prst="rect">
            <a:avLst/>
          </a:prstGeom>
          <a:solidFill>
            <a:srgbClr val="1E5F4F"/>
          </a:solidFill>
          <a:ln/>
        </p:spPr>
      </p:sp>
      <p:sp>
        <p:nvSpPr>
          <p:cNvPr id="24" name="Shape 22"/>
          <p:cNvSpPr/>
          <p:nvPr/>
        </p:nvSpPr>
        <p:spPr>
          <a:xfrm>
            <a:off x="6922008" y="2112264"/>
            <a:ext cx="1975104" cy="36576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7465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59168" y="23500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286207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C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Adensar o cluster e replicar em cidades de porte médio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Operação pequena, gestão de alto nível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371600" cy="1371600"/>
          </a:xfrm>
          <a:prstGeom prst="ellipse">
            <a:avLst/>
          </a:prstGeom>
          <a:solidFill>
            <a:srgbClr val="1E5F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391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645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&amp; gestão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86000" y="20574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empresarial em energia renovável (ForGreen) — domínio de regulação e operação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jurídica (Direito Societário, Tributário e Regulatório) — conformidade no DNA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executiva internacional (Yale) — visão de portfólio e disciplina de gestão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“poucos, mas muito bem treinados”: a estrutura enxuta é a vantagem, não a limitação.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377440"/>
            <a:ext cx="4572000" cy="4572000"/>
          </a:xfrm>
          <a:prstGeom prst="ellipse">
            <a:avLst/>
          </a:prstGeom>
          <a:solidFill>
            <a:srgbClr val="1E5F4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rodar o piloto.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7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dias, risco zero para o cliente, no preço premium. Validamos a tese e construímos a base de contratos antes de imobilizar capital.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3904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ZELO  ·  [contato]  ·  [telefone]  ·  [e-mail]  ·  Belo Horizonte / MG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Zelo — Apresentação de Mercado</dc:title>
  <dc:subject>PptxGenJS Presentation</dc:subject>
  <dc:creator>Zelo</dc:creator>
  <cp:lastModifiedBy>Zelo</cp:lastModifiedBy>
  <cp:revision>1</cp:revision>
  <dcterms:created xsi:type="dcterms:W3CDTF">2026-05-21T11:34:29Z</dcterms:created>
  <dcterms:modified xsi:type="dcterms:W3CDTF">2026-05-21T11:34:29Z</dcterms:modified>
</cp:coreProperties>
</file>